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828800"/>
            <a:ext cx="5029200" cy="5029200"/>
          </a:xfrm>
          <a:prstGeom prst="ellipse">
            <a:avLst/>
          </a:prstGeom>
          <a:solidFill>
            <a:srgbClr val="26306E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206240"/>
            <a:ext cx="3840480" cy="3840480"/>
          </a:xfrm>
          <a:prstGeom prst="ellipse">
            <a:avLst/>
          </a:prstGeom>
          <a:solidFill>
            <a:srgbClr val="26306E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YAZILIM MIMARILERI VE TASARIM YONTEMLERI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424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QMOOD Tabanli Yazilim Kalitesi Analizi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 LLM Destekli Degerlendirme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749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 edilen sistem:  </a:t>
            </a:r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jsoup (Java HTML Parser) — 11 surum (1.14.1 → 1.22.2)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31520" y="429768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LLM yapilandirmasi  ·  kendi yazdigimiz metrik cikarici  ·  6 kalite niteligi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58521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Grup: Murat Özdemir (255129022) · Mustafa Can Bozbuğa (255129050) · Ahmet Ateş (255129005)      Tarih: 2026-06-10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D5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GIRIS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Amac ve Kapsam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09728" cy="1234440"/>
          </a:xfrm>
          <a:prstGeom prst="rect">
            <a:avLst/>
          </a:prstGeom>
          <a:solidFill>
            <a:srgbClr val="3D5AAE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45920"/>
            <a:ext cx="2743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Amac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657600" y="1645920"/>
            <a:ext cx="7955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jsoup'un 11 surumunu QMOOD modeliyle analiz edip kalite evrimini olcmek; ayni metrikleri &gt;=3 LLM'e verip yorum yeteneklerini kiyaslamak.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48640" y="3063240"/>
            <a:ext cx="109728" cy="1234440"/>
          </a:xfrm>
          <a:prstGeom prst="rect">
            <a:avLst/>
          </a:prstGeom>
          <a:solidFill>
            <a:srgbClr val="3D5AAE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3063240"/>
            <a:ext cx="2743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Neden jsoup?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657600" y="3063240"/>
            <a:ext cx="7955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Tek/surekli git gecmisi, zengin kalitim-polimorfizm (Node→Element...), yonetilebilir boyut (~250 sinif), duzenli surum yayini.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548640" y="4480560"/>
            <a:ext cx="109728" cy="1234440"/>
          </a:xfrm>
          <a:prstGeom prst="rect">
            <a:avLst/>
          </a:prstGeom>
          <a:solidFill>
            <a:srgbClr val="3D5AAE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4480560"/>
            <a:ext cx="2743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Ozgunluk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3657600" y="4480560"/>
            <a:ext cx="7955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Hicbir hazir arac yok: metrikler javalang ile kendi cozumleyicimizle cikarildi (yonerge: hazir sonuc kullanimi yasak).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D5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YONTEM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QMOOD Modeli: Metrik → Tasarim Ozelligi → Kalite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Tasarim metrikleri (sistem duzeyi)
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 boyut · NOH hiyerarsi · ANA soyutlama · DAM kapsulleme · DCC coupling · CAM cohesion · MOA kompozisyon · MFA kalitim · NOP polimorfizm · CIS mesajlasma · NOM karmasiklik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384048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Kalite Niteligi
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Reusability · Flexibility · Understandability · Functionality · Extendibility · Effectiveness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0" y="1600200"/>
            <a:ext cx="5212080" cy="4480560"/>
          </a:xfrm>
          <a:prstGeom prst="roundRect">
            <a:avLst>
              <a:gd name="adj" fmla="val 1633"/>
            </a:avLst>
          </a:prstGeom>
          <a:solidFill>
            <a:srgbClr val="F4F7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29400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QMOOD Kalite Denklemleri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629400" y="2240280"/>
            <a:ext cx="4800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B24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Reusability   = -0.25·DCC +0.25·CAM +0.50·CIS +0.50·DSC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B24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Flexibility    =  0.25·DAM -0.25·DCC +0.50·MOA +0.50·NOP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B24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Understand.  = -0.33·(ANA+DCC+NOP+NOM+DSC)+0.33·(DAM+CAM)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B24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Functionality =  0.12·CAM +0.22·(NOP+CIS+DSC+NOH)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B24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Extendibility =  0.50·(ANA+MFA+NOP) -0.50·DCC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B24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Effectiveness =  0.20·(ANA+DAM+MOA+MFA+NOP)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D5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YONTEM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Metrik Cikarim Pipeline'i (kendi gelistirdigimiz)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1783080" cy="219456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47572" y="2377440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1147572" y="237744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31089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56616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surumu git archive ile indir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450592" y="2194560"/>
            <a:ext cx="1783080" cy="2194560"/>
          </a:xfrm>
          <a:prstGeom prst="roundRect">
            <a:avLst>
              <a:gd name="adj" fmla="val 4103"/>
            </a:avLst>
          </a:prstGeom>
          <a:solidFill>
            <a:srgbClr val="F4F7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049524" y="2377440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3049524" y="237744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450592" y="31089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542032" y="356616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javalang AST'den CK metrikleri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52544" y="2194560"/>
            <a:ext cx="1783080" cy="219456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951476" y="2377440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4951476" y="237744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352544" y="31089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qmood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443984" y="356616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 duzeyi QMOOD + kalite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54496" y="2194560"/>
            <a:ext cx="1783080" cy="2194560"/>
          </a:xfrm>
          <a:prstGeom prst="roundRect">
            <a:avLst>
              <a:gd name="adj" fmla="val 4103"/>
            </a:avLst>
          </a:prstGeom>
          <a:solidFill>
            <a:srgbClr val="F4F7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853428" y="2377440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6853428" y="237744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254496" y="31089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345936" y="356616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tablolari uret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156448" y="2194560"/>
            <a:ext cx="1783080" cy="219456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755380" y="2377440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/>
          <p:nvPr/>
        </p:nvSpPr>
        <p:spPr>
          <a:xfrm>
            <a:off x="8755380" y="237744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8156448" y="31089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visualize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247888" y="356616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Grafikler (figures/)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058400" y="2194560"/>
            <a:ext cx="1783080" cy="2194560"/>
          </a:xfrm>
          <a:prstGeom prst="roundRect">
            <a:avLst>
              <a:gd name="adj" fmla="val 4103"/>
            </a:avLst>
          </a:prstGeom>
          <a:solidFill>
            <a:srgbClr val="F4F7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0657332" y="2377440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1" name="Text 29"/>
          <p:cNvSpPr/>
          <p:nvPr/>
        </p:nvSpPr>
        <p:spPr>
          <a:xfrm>
            <a:off x="10657332" y="237744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10058400" y="31089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10149840" y="356616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+ karsilastirma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48640" y="51206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 → 184 sinif  ·  73 → 91 dosya  ·  cozumlenemeyen dosya = 0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D5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 SURECI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 Seti: Tasarim Boyutu Buyumesi</a:t>
            </a:r>
            <a:endParaRPr lang="en-US" sz="3000" dirty="0"/>
          </a:p>
        </p:txBody>
      </p:sp>
      <p:pic>
        <p:nvPicPr>
          <p:cNvPr id="4" name="Image 0" descr="C:\yüksek\Yazılım Tasarım ve Mimarisi\proje\figures\fig_design_siz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907771"/>
            <a:ext cx="7589520" cy="4139738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8321040" y="1737360"/>
            <a:ext cx="32918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321040" y="1901952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+27.8%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8458200" y="26517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 (sinif sayisi) buyumesi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 → 184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321040" y="3383280"/>
            <a:ext cx="32918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321040" y="3547872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D5AA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8458200" y="4297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 edilen surum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1.14.1 → 1.22.2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321040" y="5029200"/>
            <a:ext cx="32918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321040" y="5193792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+5.4%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8458200" y="59436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 (ort. metot/sinif)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9.08 → 9.58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D5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SONUCLAR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QMOOD Kalite Niteliklerinin Evrimi</a:t>
            </a:r>
            <a:endParaRPr lang="en-US" sz="3000" dirty="0"/>
          </a:p>
        </p:txBody>
      </p:sp>
      <p:pic>
        <p:nvPicPr>
          <p:cNvPr id="4" name="Image 0" descr="C:\yüksek\Yazılım Tasarım ve Mimarisi\proje\figures\fig_quality_no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80" y="1554480"/>
            <a:ext cx="9814560" cy="4206240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548640" y="5897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Pozitif nitelikler artiyor (Reusability +%9, Flexibility +%8); </a:t>
            </a:r>
            <a:pPr algn="ctr" indent="0" marL="0">
              <a:buNone/>
            </a:pPr>
            <a:r>
              <a:rPr lang="en-US" sz="14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Understandability tek yonlu kotulesiyor (-%20). </a:t>
            </a:r>
            <a:pPr algn="ctr" indent="0" marL="0">
              <a:buNone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Cift yonlu evrim.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D5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SONUCLAR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Coupling ↑ vs Cohesion ↓ — Teknik Borc Makasi</a:t>
            </a:r>
            <a:endParaRPr lang="en-US" sz="3000" dirty="0"/>
          </a:p>
        </p:txBody>
      </p:sp>
      <p:pic>
        <p:nvPicPr>
          <p:cNvPr id="4" name="Image 0" descr="C:\yüksek\Yazılım Tasarım ve Mimarisi\proje\figures\fig_coupling_cohe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932709"/>
            <a:ext cx="7498080" cy="4089862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8229600" y="1828800"/>
            <a:ext cx="33832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229600" y="19933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-17.3%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8366760" y="27432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 (cohesion) dususu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229600" y="3474720"/>
            <a:ext cx="33832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229600" y="363931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+17.8%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8366760" y="43891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LCOM (CK) artisi — capraz dogrulama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229600" y="5120640"/>
            <a:ext cx="33832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229600" y="528523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+4.0%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8366760" y="6035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DCC/CBO (coupling) artisi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D5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TARTISMA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Teknik Borc: Kontrollu Birikim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901952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-17.3%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85800" y="26517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 cohesion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337560" y="173736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337560" y="1901952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-8.0%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474720" y="26517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 kapsulleme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0" y="173736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126480" y="1901952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+6.5%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263640" y="26517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WMC karmasiklik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915400" y="1737360"/>
            <a:ext cx="26974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915400" y="1901952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84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+17.4%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052560" y="26517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 + MFA (olumlu)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36576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Cohesion erozyonu en guclu sinyal:  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 ve LCOM iki bagimsiz metrik ayni yone isaret ediyor.  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Ancak </a:t>
            </a:r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MOA/MFA artisi (+%17) bilincli kompozisyon/kalitim iyilestirmesi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yikici degil, kontrollu bir borc tablosu.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0080" y="484632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Kirilma noktasi ≈ 1.20.1 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(ANA/DAM dip, LCOH zirve) → </a:t>
            </a:r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1.21.2+ kismi toparlanma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(ANA, MFA, NOH yukari): ekip borcu fark edip odemeye baslamis.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D5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SONUCLAR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CK Metrik Ortalamalarinin Evrimi</a:t>
            </a:r>
            <a:endParaRPr lang="en-US" sz="3000" dirty="0"/>
          </a:p>
        </p:txBody>
      </p:sp>
      <p:pic>
        <p:nvPicPr>
          <p:cNvPr id="4" name="Image 0" descr="C:\yüksek\Yazılım Tasarım ve Mimarisi\proje\figures\fig_ck_mea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907771"/>
            <a:ext cx="7589520" cy="4139738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8229600" y="16916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CK metrik degisimi (1.14.1 → 1.22.2)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0" y="2148840"/>
          <a:ext cx="34747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4630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WMC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LCOM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1887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DESTEKLI DEGERLENDIRME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1600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 LLM Yapilandirmasi, Tek Ortak Prompt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743200"/>
            <a:ext cx="3383280" cy="1325880"/>
          </a:xfrm>
          <a:prstGeom prst="roundRect">
            <a:avLst>
              <a:gd name="adj" fmla="val 5517"/>
            </a:avLst>
          </a:prstGeom>
          <a:solidFill>
            <a:srgbClr val="26306E"/>
          </a:solidFill>
          <a:ln w="12700">
            <a:solidFill>
              <a:srgbClr val="3D5A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90779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ChatGPT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60120" y="340156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Ask, Think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89120" y="2743200"/>
            <a:ext cx="3383280" cy="1325880"/>
          </a:xfrm>
          <a:prstGeom prst="roundRect">
            <a:avLst>
              <a:gd name="adj" fmla="val 5517"/>
            </a:avLst>
          </a:prstGeom>
          <a:solidFill>
            <a:srgbClr val="26306E"/>
          </a:solidFill>
          <a:ln w="12700">
            <a:solidFill>
              <a:srgbClr val="3D5A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17720" y="290779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617720" y="340156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Opus, Fable, Sonnet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46720" y="2743200"/>
            <a:ext cx="3383280" cy="1325880"/>
          </a:xfrm>
          <a:prstGeom prst="roundRect">
            <a:avLst>
              <a:gd name="adj" fmla="val 5517"/>
            </a:avLst>
          </a:prstGeom>
          <a:solidFill>
            <a:srgbClr val="26306E"/>
          </a:solidFill>
          <a:ln w="12700">
            <a:solidFill>
              <a:srgbClr val="3D5AA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75320" y="290779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Copilot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8275320" y="340156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Smart, Think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520" y="4297680"/>
            <a:ext cx="3383280" cy="1325880"/>
          </a:xfrm>
          <a:prstGeom prst="roundRect">
            <a:avLst>
              <a:gd name="adj" fmla="val 5517"/>
            </a:avLst>
          </a:prstGeom>
          <a:solidFill>
            <a:srgbClr val="26306E"/>
          </a:solidFill>
          <a:ln w="12700">
            <a:solidFill>
              <a:srgbClr val="3D5A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446227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DeepSeek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960120" y="495604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Expert, Inst-Std, Inst-Think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89120" y="4297680"/>
            <a:ext cx="3383280" cy="1325880"/>
          </a:xfrm>
          <a:prstGeom prst="roundRect">
            <a:avLst>
              <a:gd name="adj" fmla="val 5517"/>
            </a:avLst>
          </a:prstGeom>
          <a:solidFill>
            <a:srgbClr val="26306E"/>
          </a:solidFill>
          <a:ln w="12700">
            <a:solidFill>
              <a:srgbClr val="3D5AA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17720" y="446227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Gemini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617720" y="495604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x2, Flash x3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046720" y="4297680"/>
            <a:ext cx="3383280" cy="1325880"/>
          </a:xfrm>
          <a:prstGeom prst="roundRect">
            <a:avLst>
              <a:gd name="adj" fmla="val 5517"/>
            </a:avLst>
          </a:prstGeom>
          <a:solidFill>
            <a:srgbClr val="26306E"/>
          </a:solidFill>
          <a:ln w="12700">
            <a:solidFill>
              <a:srgbClr val="3D5A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75320" y="446227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Grok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8275320" y="495604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Ayni prompt (01_full_evolution_prompt.txt) — rol atama, denklem gomme, sayisal-kanit zorunlulugu, yapilandirilmis 5 baslik.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D5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KARSILASTIRMA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Elestirel Puanlama — Siralama (40 uzerinden)</a:t>
            </a:r>
            <a:endParaRPr lang="en-US" sz="3000" dirty="0"/>
          </a:p>
        </p:txBody>
      </p:sp>
      <p:pic>
        <p:nvPicPr>
          <p:cNvPr id="4" name="Image 0" descr="C:\yüksek\Yazılım Tasarım ve Mimarisi\proje\figures\fig_llm_rank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982585"/>
            <a:ext cx="7315200" cy="3990109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804672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kriter x 5 puan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046720" y="210312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Sayisal kanit · Denklem dogrulugu · DSC-artefakt farkindaligi · zamansal granulerlik · halusinasyon direnci · refactoring somutlugu · sinirlama farkindaligi · analitik derinlik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8046720" y="46634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Lider: claude_opusHigh (40/40)
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zayif grup: Gemini Flash kademesi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D5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KARSILASTIRMA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Elestirel Bulgular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01168" cy="201168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55448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Uzlasi yuksek.  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modelin tamami 'dis kalite artiyor, ic kalite geriliyor' anlatisinda birlesti — bizim analizimizle ortusuyor.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578608"/>
            <a:ext cx="201168" cy="201168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487168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Metrik halusinasyonu YOK.  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Hicbir model sayisal deger uydurmadi (sayisal-kanit kuralinin basarisi).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3511296"/>
            <a:ext cx="201168" cy="20116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3419856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Sinif adi halusinasyonu.  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Bazi modeller toplu veriden turetilemeyecek sinif adlarini (Parser, Element...) refactoring hedefi gosterdi.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4443984"/>
            <a:ext cx="201168" cy="2011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4352544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Ayirt edici: DSC-artefakt.  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guclu yanit, Reusability +%27'nin tamaminin boyut kaynakli oldugunu sayisal ayristirdi (kalite bileseni 1.969→1.958).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5376672"/>
            <a:ext cx="201168" cy="2011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5285232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Kademe &gt; saglayici.  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Ust kademe reasoning modlari belirgin derin; ayni ailede Flash &lt;&lt; Pro.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206240"/>
            <a:ext cx="4572000" cy="4572000"/>
          </a:xfrm>
          <a:prstGeom prst="ellipse">
            <a:avLst/>
          </a:prstGeom>
          <a:solidFill>
            <a:srgbClr val="26306E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8229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SONUC VE GELECEK CALISMALAR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2344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Sonuc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31520" y="2103120"/>
            <a:ext cx="10789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6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jsoup, 1.14→1.22 boyunca olgun ve kontrollu yonetilen bir kutuphane: yeniden kullanilabilirlik ve esneklik artarken anlasilabilirlik kademeli azaldi; cohesion en belirgin teknik borc egilimi. QMOOD bu cift yonlu evrimi nicel olarak yakalayabildi.</a:t>
            </a:r>
            <a:endParaRPr lang="en-US" sz="16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6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LLM'ler nitelikte uzlasti; ayrisma derinlikte oldu — ust kademe reasoning modlari, ciktiyi sinif duzeyi veriyle capraz dogrulama kosuluyla guvenilir yorum uretti.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731520" y="42976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Gelecek calismalar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14400" y="4754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Coklu proje karsilastirmasi (C# + Java)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yanitlarinin API ile otomatik, cok-tekrarli toplanmasi + istatistik anlamlilik testi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Metrik egilimleri ile gercek hata/commit kayitlari arasindaki korelasyon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QMOOD Tabanli Yazilim Kalitesi Analizi — jsoup</dc:title>
  <dc:subject>PptxGenJS Presentation</dc:subject>
  <dc:creator>QMOOD Projesi</dc:creator>
  <cp:lastModifiedBy>QMOOD Projesi</cp:lastModifiedBy>
  <cp:revision>1</cp:revision>
  <dcterms:created xsi:type="dcterms:W3CDTF">2026-06-10T18:10:22Z</dcterms:created>
  <dcterms:modified xsi:type="dcterms:W3CDTF">2026-06-10T18:10:22Z</dcterms:modified>
</cp:coreProperties>
</file>