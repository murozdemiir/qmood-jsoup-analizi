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029200" cy="502920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840480" cy="384048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YAZILIM MIMARILERI VE TASARIM YONTEMLERI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QMOOD Tabanli Yazilim Kalitesi Analizi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 LLM Destekli Degerlendirme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 edilen sistem: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jsoup (Java HTML Parser) — 11 surum (1.14.1 → 1.22.2)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LLM yapilandirmasi  ·  kendi yazdigimiz metrik cikarici  ·  6 kalite niteligi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Grup: Murat Özdemir (255129022) · Can Bozbuğa · Ahmet Ateş      Tarih: 2026-06-10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Amac ve Kapsam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" cy="1234440"/>
          </a:xfrm>
          <a:prstGeom prst="rect">
            <a:avLst/>
          </a:prstGeom>
          <a:solidFill>
            <a:srgbClr val="3D5AA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Amac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0" y="1645920"/>
            <a:ext cx="7955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jsoup'un 11 surumunu QMOOD modeliyle analiz edip kalite evrimini olcmek; ayni metrikleri &gt;=3 LLM'e verip yorum yeteneklerini kiyaslamak.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09728" cy="1234440"/>
          </a:xfrm>
          <a:prstGeom prst="rect">
            <a:avLst/>
          </a:prstGeom>
          <a:solidFill>
            <a:srgbClr val="3D5AA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6324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jsoup?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657600" y="3063240"/>
            <a:ext cx="7955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Tek/surekli git gecmisi, zengin kalitim-polimorfizm (Node→Element...), yonetilebilir boyut (~250 sinif), duzenli surum yayini.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109728" cy="1234440"/>
          </a:xfrm>
          <a:prstGeom prst="rect">
            <a:avLst/>
          </a:prstGeom>
          <a:solidFill>
            <a:srgbClr val="3D5AA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48056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Ozgunluk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0" y="4480560"/>
            <a:ext cx="7955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Hicbir hazir arac yok: metrikler javalang ile kendi cozumleyicimizle cikarildi (yonerge: hazir sonuc kullanimi yasak).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QMOOD Modeli: Metrik → Tasarim Ozelligi → Kalite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Tasarim metrikleri (sistem duzeyi)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boyut · NOH hiyerarsi · ANA soyutlama · DAM kapsulleme · DCC coupling · CAM cohesion · MOA kompozisyon · MFA kalitim · NOP polimorfizm · CIS mesajlasma · NOM karmasiklik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Kalite Niteligi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 · Flexibility · Understandability · Functionality · Extendibility · Effectiveness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60020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QMOOD Kalite Denklemleri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29400" y="2240280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Reusability   = -0.25·DCC +0.25·CAM +0.50·CIS +0.50·DSC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Flexibility    =  0.25·DAM -0.25·DCC +0.50·MOA +0.50·NOP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Understand.  = -0.33·(ANA+DCC+NOP+NOM+DSC)+0.33·(DAM+CAM)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Functionality =  0.12·CAM +0.22·(NOP+CIS+DSC+NOH)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Extendibility =  0.50·(ANA+MFA+NOP) -0.50·DCC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Effectiveness =  0.20·(ANA+DAM+MOA+MFA+NOP)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Metrik Cikarim Pipeline'i (kendi gelistirdigimiz)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783080" cy="21945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7572" y="23774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surumu git archive ile indir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50592" y="2194560"/>
            <a:ext cx="1783080" cy="2194560"/>
          </a:xfrm>
          <a:prstGeom prst="roundRect">
            <a:avLst>
              <a:gd name="adj" fmla="val 4103"/>
            </a:avLst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49524" y="23774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049524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50592" y="3108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42032" y="35661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javalang AST'den CK metrikleri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52544" y="2194560"/>
            <a:ext cx="1783080" cy="21945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51476" y="23774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951476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352544" y="3108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qmood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43984" y="35661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duzeyi QMOOD + kalite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54496" y="2194560"/>
            <a:ext cx="1783080" cy="2194560"/>
          </a:xfrm>
          <a:prstGeom prst="roundRect">
            <a:avLst>
              <a:gd name="adj" fmla="val 4103"/>
            </a:avLst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3428" y="23774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3428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54496" y="3108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45936" y="35661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tablolari uret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56448" y="2194560"/>
            <a:ext cx="1783080" cy="21945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55380" y="23774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755380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156448" y="3108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47888" y="35661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Grafikler (figures/)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058400" y="2194560"/>
            <a:ext cx="1783080" cy="2194560"/>
          </a:xfrm>
          <a:prstGeom prst="roundRect">
            <a:avLst>
              <a:gd name="adj" fmla="val 4103"/>
            </a:avLst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657332" y="23774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1065733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058400" y="3108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49840" y="35661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karsilastirma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→ 184 sinif  ·  73 → 91 dosya  ·  cozumlenemeyen dosya = 0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 SURECI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Seti: Tasarim Boyutu Buyumesi</a:t>
            </a:r>
            <a:endParaRPr lang="en-US" sz="3000" dirty="0"/>
          </a:p>
        </p:txBody>
      </p:sp>
      <p:pic>
        <p:nvPicPr>
          <p:cNvPr id="4" name="Image 0" descr="C:\yüksek\Yazılım Tasarım ve Mimarisi\proje\figures\fig_design_s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07771"/>
            <a:ext cx="7589520" cy="4139738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321040" y="173736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321040" y="190195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+27.8%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458200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(sinif sayisi) buyumesi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→ 184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321040" y="338328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321040" y="35478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5A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458200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 edilen surum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1.14.1 → 1.22.2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21040" y="502920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21040" y="519379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+5.4%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8458200" y="5943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(ort. metot/sinif)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9.08 → 9.58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SONUCLAR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QMOOD Kalite Niteliklerinin Evrimi</a:t>
            </a:r>
            <a:endParaRPr lang="en-US" sz="3000" dirty="0"/>
          </a:p>
        </p:txBody>
      </p:sp>
      <p:pic>
        <p:nvPicPr>
          <p:cNvPr id="4" name="Image 0" descr="C:\yüksek\Yazılım Tasarım ve Mimarisi\proje\figures\fig_quality_n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80" y="1554480"/>
            <a:ext cx="9814560" cy="420624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Pozitif nitelikler artiyor (Reusability +%9, Flexibility +%8); </a:t>
            </a:r>
            <a:pPr algn="ctr"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Understandability tek yonlu kotulesiyor (-%20). </a:t>
            </a:r>
            <a:pPr algn="ctr" indent="0" marL="0">
              <a:buNone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Cift yonlu evrim.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SONUCLAR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Coupling ↑ vs Cohesion ↓ — Teknik Borc Makasi</a:t>
            </a:r>
            <a:endParaRPr lang="en-US" sz="3000" dirty="0"/>
          </a:p>
        </p:txBody>
      </p:sp>
      <p:pic>
        <p:nvPicPr>
          <p:cNvPr id="4" name="Image 0" descr="C:\yüksek\Yazılım Tasarım ve Mimarisi\proje\figures\fig_coupling_cohe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932709"/>
            <a:ext cx="7498080" cy="4089862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229600" y="18288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0" y="199339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-17.3%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36676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(cohesion) dususu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0" y="347472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0" y="36393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+17.8%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366760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LCOM (CK) artisi — capraz dogrulama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0" y="512064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0" y="528523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+4.0%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8366760" y="6035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DCC/CBO (coupling) artisi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TARTISMA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Teknik Borc: Kontrollu Birikim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0195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-17.3%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cohesion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90195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-8.0%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74720" y="2651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 kapsulleme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90195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+6.5%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63640" y="2651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WMC karmasiklik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90195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+17.4%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52560" y="2651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 + MFA (olumlu)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 erozyonu en guclu sinyal: 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ve LCOM iki bagimsiz metrik ayni yone isaret ediyor. 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Ancak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MOA/MFA artisi (+%17) bilincli kompozisyon/kalitim iyilestirmesi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yikici degil, kontrollu bir borc tablosu.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Kirilma noktasi ≈ 1.20.1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(ANA/DAM dip, LCOH zirve) →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1.21.2+ kismi toparlanma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(ANA, MFA, NOH yukari): ekip borcu fark edip odemeye baslamis.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SONUCLAR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CK Metrik Ortalamalarinin Evrimi</a:t>
            </a:r>
            <a:endParaRPr lang="en-US" sz="3000" dirty="0"/>
          </a:p>
        </p:txBody>
      </p:sp>
      <p:pic>
        <p:nvPicPr>
          <p:cNvPr id="4" name="Image 0" descr="C:\yüksek\Yazılım Tasarım ve Mimarisi\proje\figures\fig_ck_me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07771"/>
            <a:ext cx="7589520" cy="4139738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822960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CK metrik degisimi (1.14.1 → 1.22.2)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2148840"/>
          <a:ext cx="3474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DESTEKLI DEGERLENDIRME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LLM Yapilandirmasi, Tek Ortak Prompt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26306E"/>
          </a:solidFill>
          <a:ln w="12700">
            <a:solidFill>
              <a:srgbClr val="3D5A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9077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34015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Ask, Think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274320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26306E"/>
          </a:solidFill>
          <a:ln w="12700">
            <a:solidFill>
              <a:srgbClr val="3D5A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9077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17720" y="34015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Opus, Fable, Sonnet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274320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26306E"/>
          </a:solidFill>
          <a:ln w="12700">
            <a:solidFill>
              <a:srgbClr val="3D5A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29077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75320" y="34015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Smart, Think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26306E"/>
          </a:solidFill>
          <a:ln w="12700">
            <a:solidFill>
              <a:srgbClr val="3D5A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4622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DeepSeek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60120" y="49560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Expert, Inst-Std, Inst-Think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42976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26306E"/>
          </a:solidFill>
          <a:ln w="12700">
            <a:solidFill>
              <a:srgbClr val="3D5A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44622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617720" y="49560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x2, Flash x3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42976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26306E"/>
          </a:solidFill>
          <a:ln w="12700">
            <a:solidFill>
              <a:srgbClr val="3D5A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44622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Grok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275320" y="49560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Ayni prompt (01_full_evolution_prompt.txt) — rol atama, denklem gomme, sayisal-kanit zorunlulugu, yapilandirilmis 5 baslik.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KARSILASTIRMA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Elestirel Puanlama — Siralama (40 uzerinden)</a:t>
            </a:r>
            <a:endParaRPr lang="en-US" sz="3000" dirty="0"/>
          </a:p>
        </p:txBody>
      </p:sp>
      <p:pic>
        <p:nvPicPr>
          <p:cNvPr id="4" name="Image 0" descr="C:\yüksek\Yazılım Tasarım ve Mimarisi\proje\figures\fig_llm_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982585"/>
            <a:ext cx="7315200" cy="3990109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804672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kriter x 5 puan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46720" y="21031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Sayisal kanit · Denklem dogrulugu · DSC-artefakt farkindaligi · zamansal granulerlik · halusinasyon direnci · refactoring somutlugu · sinirlama farkindaligi · analitik derinlik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046720" y="4663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Lider: claude_opusHigh (40/40)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zayif grup: Gemini Flash kademesi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KARSILASTIRMA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Elestirel Bulgular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1168" cy="20116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Uzlasi yuksek.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modelin tamami 'dis kalite artiyor, ic kalite geriliyor' anlatisinda birlesti — bizim analizimizle ortusuyor.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78608"/>
            <a:ext cx="201168" cy="20116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871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 halusinasyonu YOK.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Hicbir model sayisal deger uydurmadi (sayisal-kanit kuralinin basarisi).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19856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Sinif adi halusinasyonu.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Bazi modeller toplu veriden turetilemeyecek sinif adlarini (Parser, Element...) refactoring hedefi gosterdi.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443984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352544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Ayirt edici: DSC-artefakt.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guclu yanit, Reusability +%27'nin tamaminin boyut kaynakli oldugunu sayisal ayristirdi (kalite bileseni 1.969→1.958).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37667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28523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Kademe &gt; saglayici.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kademe reasoning modlari belirgin derin; ayni ailede Flash &lt;&lt; Pro.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572000" cy="457200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SONUC VE GELECEK CALISMALAR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Sonuc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jsoup, 1.14→1.22 boyunca olgun ve kontrollu yonetilen bir kutuphane: yeniden kullanilabilirlik ve esneklik artarken anlasilabilirlik kademeli azaldi; cohesion en belirgin teknik borc egilimi. QMOOD bu cift yonlu evrimi nicel olarak yakalayabildi.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LLM'ler nitelikte uzlasti; ayrisma derinlikte oldu — ust kademe reasoning modlari, ciktiyi sinif duzeyi veriyle capraz dogrulama kosuluyla guvenilir yorum uretti.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Gelecek calismalar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754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Coklu proje karsilastirmasi (C# + Java)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yanitlarinin API ile otomatik, cok-tekrarli toplanmasi + istatistik anlamlilik testi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 egilimleri ile gercek hata/commit kayitlari arasindaki korelasyon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QMOOD Tabanli Yazilim Kalitesi Analizi — jsoup</dc:title>
  <dc:subject>PptxGenJS Presentation</dc:subject>
  <dc:creator>QMOOD Projesi</dc:creator>
  <cp:lastModifiedBy>QMOOD Projesi</cp:lastModifiedBy>
  <cp:revision>1</cp:revision>
  <dcterms:created xsi:type="dcterms:W3CDTF">2026-06-09T23:46:39Z</dcterms:created>
  <dcterms:modified xsi:type="dcterms:W3CDTF">2026-06-09T23:46:39Z</dcterms:modified>
</cp:coreProperties>
</file>