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828800"/>
            <a:ext cx="5029200" cy="502920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840480" cy="384048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YAZILIM MİMARİLERİ VE TASARIM YÖNTEMLERİ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QMOOD Tabanlı Yazılım Kalitesi Analizi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 LLM Destekli Değerlendirme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749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 edilen sistem:  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jsoup (Java HTML Parser) — 11 sürüm (1.14.1 → 1.22.2)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42976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LLM yapılandırması  ·  kendi yazdığımız metrik çıkarıcı  ·  6 kalite niteliği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5852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Grup: Murat Özdemir (255129022) · Mustafa Can Bozbuğa (255129050) · Ahmet Ateş (255129005)      Tarih: 2026-06-10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GIRIŞ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Amaç ve Kapsam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09728" cy="1234440"/>
          </a:xfrm>
          <a:prstGeom prst="rect">
            <a:avLst/>
          </a:prstGeom>
          <a:solidFill>
            <a:srgbClr val="3D5AAE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Amaç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657600" y="1645920"/>
            <a:ext cx="7955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jsoup'un 11 sürümünü QMOOD modeliyle analiz edip kalite evrimini ölçmek; aynı metrikleri ≥3 LLM'e verip yorum yeteneklerini kıyaslamak.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109728" cy="1234440"/>
          </a:xfrm>
          <a:prstGeom prst="rect">
            <a:avLst/>
          </a:prstGeom>
          <a:solidFill>
            <a:srgbClr val="3D5AAE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06324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Neden jsoup?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57600" y="3063240"/>
            <a:ext cx="7955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Tek/sürekli git geçmişi, zengin kalıtım-polimorfizm (Node→Element...), yönetilebilir boyut (~250 sınıf), düzenli sürüm yayını.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48640" y="4480560"/>
            <a:ext cx="109728" cy="1234440"/>
          </a:xfrm>
          <a:prstGeom prst="rect">
            <a:avLst/>
          </a:prstGeom>
          <a:solidFill>
            <a:srgbClr val="3D5AA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48056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Özgünlük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657600" y="4480560"/>
            <a:ext cx="7955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Hiçbir hazır araç yok: metrikler javalang ile kendi çözümleyicimizle çıkarıldı (yönerge: hazır sonuç kullanımı yasak).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QMOOD Modeli: Metrik → Tasarım Özelliği → Kalite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Tasarım metrikleri (sistem düzeyi)
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boyut · NOH hiyerarşi · ANA soyutlama · DAM kapsülleme · DCC coupling · CAM cohesion · MOA kompozisyon · MFA kalıtım · NOP polimorfizm · CIS mesajlaşma · NOM karmaşıklık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84048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Kalite Niteliği
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Reusability · Flexibility · Understandability · Functionality · Extendibility · Effectiveness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0" y="1600200"/>
            <a:ext cx="5212080" cy="4480560"/>
          </a:xfrm>
          <a:prstGeom prst="roundRect">
            <a:avLst>
              <a:gd name="adj" fmla="val 1633"/>
            </a:avLst>
          </a:prstGeom>
          <a:solidFill>
            <a:srgbClr val="F4F7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29400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QMOOD Kalite Denklemleri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629400" y="2240280"/>
            <a:ext cx="4800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Reusability   = -0.25·DCC +0.25·CAM +0.50·CIS +0.50·DSC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Flexibility    =  0.25·DAM -0.25·DCC +0.50·MOA +0.50·NOP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Understand.  = -0.33·(ANA+DCC+NOP+NOM+DSC)+0.33·(DAM+CAM)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Functionality =  0.12·CAM +0.22·(NOP+CIS+DSC+NOH)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Extendibility =  0.50·(ANA+MFA+NOP) -0.50·DCC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4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Effectiveness =  0.20·(ANA+DAM+MOA+MFA+NOP)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Metrik Çıkarım Pipeline'ı (kendi geliştirdiğimiz)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47572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1147572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sürümü git archive ile indir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450592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49524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049524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450592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542032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javalang AST'den CK metrikleri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52544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951476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4951476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352544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qmood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443984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düzeyi QMOOD + kalite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54496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3428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6853428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54496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345936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tabloları üret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56448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755380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8755380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156448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47888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Grafikler (figures/)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058400" y="2194560"/>
            <a:ext cx="1783080" cy="2194560"/>
          </a:xfrm>
          <a:prstGeom prst="roundRect">
            <a:avLst>
              <a:gd name="adj" fmla="val 4103"/>
            </a:avLst>
          </a:prstGeom>
          <a:solidFill>
            <a:srgbClr val="F4F7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0657332" y="237744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10657332" y="23774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0058400" y="3108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0149840" y="356616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+ karşılaştırma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→ 184 sınıf  ·  73 → 91 dosya  ·  çözümlenemeyen dosya = 0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 SÜRECI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Seti: Tasarım Boyutu Büyümesi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design_siz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07771"/>
            <a:ext cx="7589520" cy="4139738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8321040" y="173736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321040" y="190195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+27.8%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458200" y="2651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(sınıf sayısı) büyümesi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→ 184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321040" y="338328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321040" y="354787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D5A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4582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 edilen sürüm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1.14.1 → 1.22.2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321040" y="502920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321040" y="519379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+5.4%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8458200" y="5943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(ort. metot/sınıf)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9.08 → 9.58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QMOOD Kalite Niteliklerinin Evrimi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quality_n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80" y="1554480"/>
            <a:ext cx="9814560" cy="42062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Pozitif nitelikler artıyor (Reusability +%9, Flexibility +%8); </a:t>
            </a:r>
            <a:pPr algn="ctr" indent="0" marL="0">
              <a:buNone/>
            </a:pPr>
            <a:r>
              <a:rPr lang="en-US" sz="14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Understandability tek yönlü kötüleşiyor (-%20). </a:t>
            </a:r>
            <a:pPr algn="ctr" indent="0" marL="0">
              <a:buNone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Çift yönlü evrim.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Coupling ↑ vs Cohesion ↓ — Teknik Borç Makası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coupling_cohe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932709"/>
            <a:ext cx="7498080" cy="4089862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8229600" y="182880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0" y="19933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-17.3%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36676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(cohesion) düşüşü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229600" y="347472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0" y="363931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+17.8%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366760" y="4389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LCOM (CK) artışı — çapraz doğrulama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29600" y="5120640"/>
            <a:ext cx="33832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229600" y="528523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+4.0%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8366760" y="6035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DCC/CBO (coupling) artışı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TARTIŞMA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Teknik Borç: Kontrollü Birikim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90195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-17.3%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2651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cohesion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3756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190195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-8.0%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74720" y="2651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 kapsülleme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0" y="173736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26480" y="1901952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+6.5%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263640" y="2651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WMC karmaşıklık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915400" y="1737360"/>
            <a:ext cx="26974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15400" y="1901952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844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+17.4%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52560" y="26517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 + MFA (olumlu)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36576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Cohesion erozyonu en güçlü sinyal: 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ve LCOM iki bağımsız metrik aynı yöne işaret ediyor. 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Ancak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MOA/MFA artışı (+%17) bilinçli kompozisyon/kalıtım iyileştirmesi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yıkıcı değil, kontrollü bir borç tablosu.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48463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Kırılma noktası ≈ 1.20.1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(ANA/DAM dip, LCOM zirve) →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1.21.2+ kısmi toparlanma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(ANA, MFA, NOH yukarı): ekip borcu fark edip ödemeye başlamış.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CK Metrik Ortalamalarının Evrimi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ck_mea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07771"/>
            <a:ext cx="7589520" cy="4139738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822960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CK metrik değişimi (1.14.1 → 1.22.2)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2148840"/>
          <a:ext cx="3474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WMC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LCOM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DESTEKLİ DEĞERLENDİRME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600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LLM Yapılandırması, Tek Ortak Prompt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74320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907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ChatGPT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34015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Ask, Think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274320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0" y="2907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617720" y="34015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Opus, Fable, Sonnet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274320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75320" y="29077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Copilot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275320" y="34015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Smart, Think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429768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4622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DeepSeek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60120" y="49560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Expert, Inst-Std, Inst-Think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0" y="429768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0" y="44622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Gemini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617720" y="49560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x2, Flash x3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0" y="429768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26306E"/>
          </a:solidFill>
          <a:ln w="12700">
            <a:solidFill>
              <a:srgbClr val="3D5A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446227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Grok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275320" y="49560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prompt (01_full_evolution_prompt.txt) — rol atama, denklem gömme, sayısal-kanıt zorunluluğu, yapılandırılmış 5 başlık.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KARŞILAŞTIRMA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Eleştirel Puanlama — Sıralama (40 üzerinden)</a:t>
            </a:r>
            <a:endParaRPr lang="en-US" sz="3000" dirty="0"/>
          </a:p>
        </p:txBody>
      </p:sp>
      <p:pic>
        <p:nvPicPr>
          <p:cNvPr id="4" name="Image 0" descr="C:\yüksek\Yazılım Tasarım ve Mimarisi\proje\figures\fig_llm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982585"/>
            <a:ext cx="7315200" cy="3990109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804672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kriter × 5 puan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046720" y="210312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Sayısal kanıt · Denklem doğruluğu · DSC-artefakt farkındalığı · zamansal granülerlik · halüsinasyon direnci · refactoring somutluğu · sınırlama farkındalığı · analitik derinlik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8046720" y="4663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Lider: claude_opusHigh (40/40)
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zayıf grup: Gemini Flash kademesi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D5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KARŞILAŞTIRMA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Eleştirel Bulgular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1168" cy="201168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55448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Uzlaşı yüksek.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modelin tamamı 'dış kalite artıyor, iç kalite geriliyor' anlatısında birleşti — bizim analizimizle örtüşüyor.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578608"/>
            <a:ext cx="201168" cy="201168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48716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 halüsinasyonu YOK.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Hiçbir model sayısal değer uydurmadı (sayısal-kanıt kuralının başarısı).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511296"/>
            <a:ext cx="201168" cy="20116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419856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 adı halüsinasyonu.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Bazı modeller toplu veriden türetilemeyecek sınıf adlarını (Parser, Element...) refactoring hedefi gösterdi.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443984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352544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Ayırt edici: DSC-artefakt.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güçlü yanıt, Reusability +%27'nin tamamının boyut kaynaklı olduğunu sayısal ayrıştırdı (kalite bileşeni 1.969→1.958).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5376672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285232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Kademe &gt; sağlayıcı. 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Üst kademe reasoning modları belirgin derin; aynı ailede Flash &lt;&lt; Pro.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206240"/>
            <a:ext cx="4572000" cy="457200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 VE GELECEK ÇALIŞMALAR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Sonuç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6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jsoup, 1.14→1.22 boyunca olgun ve kontrollü yönetilen bir kütüphane: yeniden kullanılabilirlik ve esneklik artarken anlaşılabilirlik kademeli azaldı; cohesion en belirgin teknik borç eğilimi. QMOOD bu çift yönlü evrimi nicel olarak yakalayabildi.</a:t>
            </a:r>
            <a:endParaRPr lang="en-US" sz="16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LLM'ler nitelikte uzlaştı; ayrışma derinlikte oldu — üst kademe reasoning modları, çıktıyı sınıf düzeyi veriyle çapraz doğrulama koşuluyla güvenilir yorum üretti.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3152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Gelecek çalışmalar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4754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Çoklu proje karşılaştırması (C# + Java)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yanıtlarının API ile otomatik, çok-tekrarlı toplanması + istatistik anlamlılık testi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 eğilimleri ile gerçek hata/commit kayıtları arasındaki korelasyon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QMOOD Tabanlı Yazılım Kalitesi Analizi — jsoup</dc:title>
  <dc:subject>PptxGenJS Presentation</dc:subject>
  <dc:creator>QMOOD Projesi</dc:creator>
  <cp:lastModifiedBy>QMOOD Projesi</cp:lastModifiedBy>
  <cp:revision>1</cp:revision>
  <dcterms:created xsi:type="dcterms:W3CDTF">2026-06-10T18:13:23Z</dcterms:created>
  <dcterms:modified xsi:type="dcterms:W3CDTF">2026-06-10T18:13:23Z</dcterms:modified>
</cp:coreProperties>
</file>